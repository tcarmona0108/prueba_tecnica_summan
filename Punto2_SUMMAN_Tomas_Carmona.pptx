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A0C22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C2</c:v>
                </c:pt>
                <c:pt idx="1">
                  <c:v>C0</c:v>
                </c:pt>
                <c:pt idx="2">
                  <c:v>C1</c:v>
                </c:pt>
                <c:pt idx="3">
                  <c:v>C3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0.65526095091824854</c:v>
                </c:pt>
                <c:pt idx="1">
                  <c:v>0.15340646540846717</c:v>
                </c:pt>
                <c:pt idx="2">
                  <c:v>0.10659550997483154</c:v>
                </c:pt>
                <c:pt idx="3">
                  <c:v>8.4737073698452806E-2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7-4288-8ACA-38AAA08A58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1182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C2</c:v>
                </c:pt>
                <c:pt idx="1">
                  <c:v>C0</c:v>
                </c:pt>
                <c:pt idx="2">
                  <c:v>C1</c:v>
                </c:pt>
                <c:pt idx="3">
                  <c:v>C3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0.56833921060105663</c:v>
                </c:pt>
                <c:pt idx="1">
                  <c:v>0.36413359756841174</c:v>
                </c:pt>
                <c:pt idx="2">
                  <c:v>-1.0599796995365986E-2</c:v>
                </c:pt>
                <c:pt idx="3">
                  <c:v>7.8126988825897623E-2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97-4288-8ACA-38AAA08A5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-0.0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</c:v>
                </c:pt>
              </c:strCache>
            </c:strRef>
          </c:tx>
          <c:spPr>
            <a:solidFill>
              <a:srgbClr val="A0C22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9.8039215686274508E-3</c:v>
                </c:pt>
                <c:pt idx="1">
                  <c:v>9.8039215686274508E-3</c:v>
                </c:pt>
                <c:pt idx="2">
                  <c:v>3.9215686274509803E-2</c:v>
                </c:pt>
                <c:pt idx="3">
                  <c:v>2.9411764705882353E-2</c:v>
                </c:pt>
                <c:pt idx="4">
                  <c:v>2.9411764705882353E-2</c:v>
                </c:pt>
                <c:pt idx="5">
                  <c:v>5.8823529411764705E-2</c:v>
                </c:pt>
                <c:pt idx="6">
                  <c:v>6.8627450980392163E-2</c:v>
                </c:pt>
                <c:pt idx="7">
                  <c:v>5.8823529411764705E-2</c:v>
                </c:pt>
                <c:pt idx="8">
                  <c:v>0.10784313725490197</c:v>
                </c:pt>
                <c:pt idx="9">
                  <c:v>0.21568627450980393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3A-4C86-9905-865E81171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88235294117647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Cum. share</c:v>
                </c:pt>
              </c:strCache>
            </c:strRef>
          </c:tx>
          <c:spPr>
            <a:ln w="25400" cap="flat">
              <a:solidFill>
                <a:srgbClr val="1118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11827"/>
              </a:solidFill>
              <a:ln w="9525" cap="flat">
                <a:solidFill>
                  <a:srgbClr val="11182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D0</c:v>
                </c:pt>
                <c:pt idx="1">
                  <c:v>D1</c:v>
                </c:pt>
                <c:pt idx="2">
                  <c:v>D2</c:v>
                </c:pt>
                <c:pt idx="3">
                  <c:v>D3</c:v>
                </c:pt>
                <c:pt idx="4">
                  <c:v>D4</c:v>
                </c:pt>
                <c:pt idx="5">
                  <c:v>D5</c:v>
                </c:pt>
                <c:pt idx="6">
                  <c:v>D6</c:v>
                </c:pt>
                <c:pt idx="7">
                  <c:v>D7</c:v>
                </c:pt>
                <c:pt idx="8">
                  <c:v>D8</c:v>
                </c:pt>
                <c:pt idx="9">
                  <c:v>D9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0.984375</c:v>
                </c:pt>
                <c:pt idx="2">
                  <c:v>0.96875</c:v>
                </c:pt>
                <c:pt idx="3">
                  <c:v>0.90625</c:v>
                </c:pt>
                <c:pt idx="4">
                  <c:v>0.859375</c:v>
                </c:pt>
                <c:pt idx="5">
                  <c:v>0.8125</c:v>
                </c:pt>
                <c:pt idx="6">
                  <c:v>0.71875</c:v>
                </c:pt>
                <c:pt idx="7">
                  <c:v>0.609375</c:v>
                </c:pt>
                <c:pt idx="8">
                  <c:v>0.515625</c:v>
                </c:pt>
                <c:pt idx="9">
                  <c:v>0.34375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C6-4BF5-81D5-8F5607154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21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Estructura basada en los requerimientos del enunciado y resultados obtenidos en el ejercicio.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Variables y flujo construidos a partir del código entregado por el candidato y datasets proporcionados.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Definición de variables a partir del pipeline de ingeniería de características implementado en el código del ejercicio.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Tabla de selección y métricas reportadas por el script de tuning (consola del ejercicio).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Participaciones y métricas calculadas desde cluster_profile_summary.csv y resultados del ejercicio.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Recomendaciones derivadas del perfil por cluster y métricas reportadas en cluster_profile_summary.csv.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Definición de target y unidad de análisis construida con Returns a nivel orden en el ejercicio.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Variables derivadas del pipeline de features implementado en el modelo predictivo del ejercicio.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Métricas reportadas por el classification report y tabla lift_deciles_hgb.csv generados en el ejercicio.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lift_deciles_hgb.csv generado por el modelo (deciles, return_rate y captura acumulada).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Conclusiones derivadas de los resultados obtenidos en la segmentación y el modelo predictivo del ejercicio.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84048" y="5897880"/>
            <a:ext cx="11807647" cy="960120"/>
          </a:xfrm>
          <a:prstGeom prst="rect">
            <a:avLst/>
          </a:prstGeom>
          <a:solidFill>
            <a:srgbClr val="EEF6D8"/>
          </a:solidFill>
          <a:ln w="12700">
            <a:solidFill>
              <a:srgbClr val="EEF6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6108192"/>
            <a:ext cx="1417320" cy="502920"/>
          </a:xfrm>
          <a:prstGeom prst="roundRect">
            <a:avLst/>
          </a:prstGeom>
          <a:solidFill>
            <a:srgbClr val="A0C22D">
              <a:alpha val="90000"/>
            </a:srgbClr>
          </a:solidFill>
          <a:ln w="12700">
            <a:solidFill>
              <a:srgbClr val="A0C2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46920" y="6327648"/>
            <a:ext cx="777240" cy="283464"/>
          </a:xfrm>
          <a:prstGeom prst="roundRect">
            <a:avLst/>
          </a:prstGeom>
          <a:solidFill>
            <a:srgbClr val="A0C22D">
              <a:alpha val="65000"/>
            </a:srgbClr>
          </a:solidFill>
          <a:ln w="12700">
            <a:solidFill>
              <a:srgbClr val="A0C22D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77240" y="2889504"/>
            <a:ext cx="2377440" cy="54864"/>
          </a:xfrm>
          <a:prstGeom prst="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 y Machine Learning | SUMMAN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 Carmona Salazar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en analítica | Segmentación, clustering y modelo predictivo</a:t>
            </a:r>
            <a:endParaRPr lang="en-US" sz="1400" dirty="0"/>
          </a:p>
        </p:txBody>
      </p:sp>
      <p:pic>
        <p:nvPicPr>
          <p:cNvPr id="11" name="Image 0" descr="/mnt/data/summan_logo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459" y="502920"/>
            <a:ext cx="1866122" cy="1143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" y="1691640"/>
            <a:ext cx="2926080" cy="329184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96112" y="174650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Técnica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789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 — Enfoque, resultados y recomendaciones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89920" cy="4389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2.1 Segmentación de clientes: Customer 360, metodología y segmentos accionables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2.2 ML: Predicción de devoluciones a nivel orden (return propensity)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Implicaciones: palancas comerciales (descuentos), operativas (devoluciones) y métricas de control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Prueba técnica — Punto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identificar grupos accionables por valor, sensibilidad al descuento y fricción operativa.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60120" y="18562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hicimos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Construimos un Customer 360 (1 fila por cliente).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Integramos ventas, producto, cliente, devoluciones y logística.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59689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Generamos variables RFM + pricing + operaciones + mix.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92240" y="18562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K-Means (no supervisado) sobre variables numéricas.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39572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Escalado robusto + imputación por mediana.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59689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Evaluación interna: Silhouette, DBI, CH + estabilidad ARI.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107899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60120" y="42336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57200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customer_segmentation_output.csv: cliente + cluster + variables.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4773168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cluster_profile_summary.csv: perfil ejecutivo por segmento.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360: variables utilizadas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&amp; RFM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(# órdenes), Monetary (ventas/profit)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Recency (días), Tenure (antigüedad)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AOV (ticket), margen %, unidades/orden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9224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(pricing)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avg_discount, med_discount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líneas con descuento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dispersión y p90 del descuento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60120" y="40507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lead_time_mean (Order→Ship)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59028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return_order_rate (a nivel orden)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479145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intensidad: productos_devueltos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8862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492240" y="40507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&amp; diversidad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38912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diversidad de productos/categorías/subcats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59028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concentración: top_category_share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79145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(demografía si aplica): edad, salario, score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clustering: robustez y selección de 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clave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Winsorización p1–p99 (control de outliers).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Signed-log en profit (conserva negativos).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log1p en variables sesgadas (ventas/frecuencia).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43230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RobustScaler + imputación por mediana.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9224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Silhouette (↑): separación/compactación.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Davies–Bouldin (↓): solapamiento.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Calinski–Harabasz (↑): estructura.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43230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Estabilidad ARI (↑): robustez a semilla.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107899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60120" y="40050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configuraciones (resumen)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PCA=0.90 concentra las mejores métricas internas (Silhouette≈0.296, ARI≈1.0).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K=2 y K=3 son los mejores candidatos por métricas; K final se define por accionabilidad.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5166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recomendada: priorizar segmentación accionable (pricing vs devoluciones) sobre mejoras marginales en métricas internas.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segmentos y concentración de valor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1078992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118872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3898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$2,677,044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118872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13898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$341,249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118872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(ponderado)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52560" y="13898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19659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por segmento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31520" y="224028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6629400" y="196596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812280" y="2057400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recurrente (base rentable)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12280" y="229514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477 (59.3%)  ·  Ventas: 65.5%  ·  Margen: 11.1%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12280" y="2514600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prom.: 15.1%  ·  Return rate: 4.0%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29400" y="3090672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6812280" y="318211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/ Premium (alto margen)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12280" y="341985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34 (4.2%)  ·  Ventas: 15.3%  ·  Margen: 30.3%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12280" y="363931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prom.: 11.2%  ·  Return rate: 5.6%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29400" y="4215384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6812280" y="430682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Discount-driven (no rentable)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12280" y="4544568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225 (28.0%)  ·  Ventas: 10.7%  ·  Margen: -1.3%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12280" y="4764024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prom.: 17.8%  ·  Return rate: 3.4%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29400" y="5340096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6812280" y="543153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fricción (devoluciones)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12280" y="5669280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68 (8.5%)  ·  Ventas: 8.5%  ·  Margen: 11.8%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812280" y="588873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prom.: 15.3%  ·  Return rate: 29.0%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por segmento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57800" cy="10972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/ Premium (C0)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Retención y servicio premium (no competir por precio).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Bundles de alto margen y prioridad comercial.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KPI: margen ponderado, frecuencia, churn.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257800" cy="10972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92240" y="14447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recurrente (C2)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Escalar con cross-sell/upsell y mejora de AOV.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de descuento por subcategoría (guardrails).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KPI: AOV, margen por banda de descuento.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5257800" cy="10972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Discount-driven (C1)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572000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Revisar política de descuento: piso de margen y mínimos.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Reactivar con incentivos no basados en descuento directo.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KPI: margen ponderado del segmento y dependencia a descuento.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406908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257800" cy="10972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492240" y="42336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fricción (C3)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572000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Diagnóstico de devoluciones por ship mode / región / mix.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Acciones: QA, empaque, expectativa logística, contenido producto.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KPI: return_rate y costo por devolución evitada.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ML: predicción de devoluciones (return propensity)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priorizar órdenes con mayor riesgo de devolución para intervenir antes del despacho.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789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Unidad: 1 fila = 1 Order_ID (nivel orden).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returned_flag = 1 si la orden presenta devolución (Returns).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505456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Uso: motor de priorización (Top-N) según capacidad operativa.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0120" y="3959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Reducir costos de logística inversa.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49884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Mejorar experiencia (menos fricción).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70001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Ajustar políticas de descuento y servicio.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92240" y="3959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2976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temporal (80/20) para simular futuro.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49884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TimeSeriesSplit en tuning.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70001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Métrica principal: lift y captura acumulada.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variables (sin leakage)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 la orden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order_sales, order_qty, #líneas, #productos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discount_mean / discount_max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diversidad (cat_div, subcat_div)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43230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ship_mode, region, country + calendario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257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9224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del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prior_orders, prior_returns, prior_return_rate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prior_avg_discount, prior_avg_order_sales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recency_at_order_days (orden previa)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43230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cálculo con shift (solo pasado)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10789920" cy="1874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60120" y="42062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498848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histórico se calcula en orden cronológico por cliente usando shift/expanding. Esto evita fuga de información (leakage) y hace que el modelo sea utilizable en producción.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desempeño (test temporal)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Baseline: Logistic Regression (balanced).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 final: HistGradientBoosting (tuning).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Selección por PR-AUC (Average Precision).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92240" y="149047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operativo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10% de órdenes con mayor probabilidad.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02996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Enfoque: priorización según capacidad.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23113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Métrica clave: lift y captura acumulada.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107899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60120" y="40050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(clase devolución = 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31596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Precision: 0.22  ·  Recall: 0.34  ·  F1: 0.27 (con umbral Top 10%)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accuracy global (0.88) no es la métrica principal por desbalance; el valor está en el ranking (lift).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13892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 (test): 6.27%  ·  Top 10% return rate: 21.6%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" y="548640"/>
            <a:ext cx="1920240" cy="347472"/>
          </a:xfrm>
          <a:prstGeom prst="roundRect">
            <a:avLst/>
          </a:prstGeom>
          <a:solidFill>
            <a:srgbClr val="A0C22D"/>
          </a:solidFill>
          <a:ln w="12700">
            <a:solidFill>
              <a:srgbClr val="A0C22D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612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50292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priorización operativa (deciles de riesgo)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devolución por decil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1508760"/>
          <a:ext cx="56692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629400" y="123444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acumulada de devoluciones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629400" y="1508760"/>
          <a:ext cx="48920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629400" y="4069080"/>
            <a:ext cx="489204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6812280" y="425196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10%: 34.4% de devoluciones capturadas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20%: 51.6% capturadas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Lift Top 10%: 3.44× vs base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2.2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0C2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789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2.1 + 2.2 en operación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76479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habilita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Estrategias comerciales por segmento (retención, pricing, reactivación).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04288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Priorización operativa de órdenes con riesgo de devolución (Top-N).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505456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de políticas: descuentos vs margen; devoluciones vs costo-to-serve.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60120" y="386791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implementación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Integrar cluster del cliente en CRM/BI.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440740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Ejecutar scoring de devoluciones diario/semanal.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60857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Definir umbral por capacidad (10%–20%).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80974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Medir impacto: return_rate, profit neto, SLA.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92240" y="386791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métricas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Tablero: lift por decil, drift de variables, tasa base.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407408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Re-entrenamiento: mensual/trimestral (según drift).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608576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Reglas: pisos de margen por subcategoría/segmento.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48640" y="66294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SUMMAN | Punto 2 — Cierre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0" y="6629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1688</Words>
  <Application>Microsoft Office PowerPoint</Application>
  <PresentationFormat>Panorámica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 Carmona Salazar</cp:lastModifiedBy>
  <cp:revision>2</cp:revision>
  <dcterms:created xsi:type="dcterms:W3CDTF">2025-12-18T11:17:34Z</dcterms:created>
  <dcterms:modified xsi:type="dcterms:W3CDTF">2025-12-18T11:48:30Z</dcterms:modified>
</cp:coreProperties>
</file>